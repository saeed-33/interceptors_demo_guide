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3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84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1900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slide. Introduce yourself and the topic: interceptors are middleware that sit between your app and the network — a pattern that shows up in almost every serious frontend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Interceptors are pure middleware. They let you cross-cut concerns (auth, logging, caching) without touching your feature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benefit: write the concern ONCE, apply it EVERYWHERE. This is the DRY principle at the network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implemented all 14. The demo app shows each one firing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example. Emphasize: the feature code (PostRepository, etc.) has zero knowledge of auth, cache, or delete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CRITICAL. Network must be first — no point running auth or cache if you're offline. Log must be last — it should see the fully-processed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interceptors are client-only — the backend mirrors them. Emphasize: defense in depth. Each layer adds an independent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Interceptors are powerful but overusing them leads to 'hidden magic' — code that's hard to trace. If a developer reads your repository and wonders where the token came from, that's fine. If they wonder why their dialog appears twice, that's a bug caused by bad interceptor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with: interceptors are one of the most elegant patterns in modern frontend development. One class, applied everywhere, invisibly.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5097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5097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5097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5097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5097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5097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5097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5097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5097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5097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5097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5097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42646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42646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42646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42646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42646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42646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42646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42646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42646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42646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42646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2646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90195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90195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90195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90195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90195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90195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90195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90195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90195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90195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90195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90195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237744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237744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37744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37744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37744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37744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37744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37744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37744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37744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37744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37744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85292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85292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85292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85292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85292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85292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85292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285292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285292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285292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285292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285292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32841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332841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332841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332841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32841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32841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332841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332841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332841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332841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332841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32841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80390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380390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380390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380390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380390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380390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80390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80390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380390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380390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380390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380390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427939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427939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427939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427939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427939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427939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27939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27939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27939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27939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27939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27939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75488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475488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475488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475488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75488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475488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475488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475488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475488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475488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475488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475488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523036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523036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523036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523036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523036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523036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523036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523036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523036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523036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23036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523036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570585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570585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570585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570585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70585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570585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570585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70585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70585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70585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570585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570585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618134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618134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18134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18134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618134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618134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18134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618134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618134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618134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618134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18134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665683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665683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665683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65683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665683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665683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665683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665683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665683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665683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665683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665683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713232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713232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713232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713232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713232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13232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713232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713232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713232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713232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713232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713232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760780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760780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760780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760780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0780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760780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760780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760780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760780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760780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60780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760780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08329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808329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808329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808329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808329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808329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808329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808329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808329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808329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808329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808329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855878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855878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855878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855878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855878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855878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855878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855878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855878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855878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855878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855878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903427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903427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903427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903427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903427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903427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903427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903427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903427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903427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903427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903427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685800"/>
            <a:ext cx="822960" cy="822960"/>
          </a:xfrm>
          <a:prstGeom prst="rect">
            <a:avLst/>
          </a:prstGeom>
        </p:spPr>
      </p:pic>
      <p:sp>
        <p:nvSpPr>
          <p:cNvPr id="244" name="Text 241"/>
          <p:cNvSpPr/>
          <p:nvPr/>
        </p:nvSpPr>
        <p:spPr>
          <a:xfrm>
            <a:off x="914400" y="2148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-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in Frontend</a:t>
            </a:r>
            <a:endParaRPr lang="en-US" sz="4000" dirty="0"/>
          </a:p>
        </p:txBody>
      </p:sp>
      <p:sp>
        <p:nvSpPr>
          <p:cNvPr id="245" name="Text 242"/>
          <p:cNvSpPr/>
          <p:nvPr/>
        </p:nvSpPr>
        <p:spPr>
          <a:xfrm>
            <a:off x="1371600" y="2926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· Domains · Best Practices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200400" y="3429000"/>
            <a:ext cx="2743200" cy="0"/>
          </a:xfrm>
          <a:prstGeom prst="line">
            <a:avLst/>
          </a:prstGeom>
          <a:noFill/>
          <a:ln w="127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Text 244"/>
          <p:cNvSpPr/>
          <p:nvPr/>
        </p:nvSpPr>
        <p:spPr>
          <a:xfrm>
            <a:off x="91440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سعيد بقدونس</a:t>
            </a:r>
            <a:endParaRPr lang="en-US" sz="1500" dirty="0"/>
          </a:p>
        </p:txBody>
      </p:sp>
      <p:sp>
        <p:nvSpPr>
          <p:cNvPr id="248" name="Shape 245"/>
          <p:cNvSpPr/>
          <p:nvPr/>
        </p:nvSpPr>
        <p:spPr>
          <a:xfrm>
            <a:off x="2651760" y="4206240"/>
            <a:ext cx="1188720" cy="228600"/>
          </a:xfrm>
          <a:prstGeom prst="roundRect">
            <a:avLst>
              <a:gd name="adj" fmla="val 20000"/>
            </a:avLst>
          </a:prstGeom>
          <a:solidFill>
            <a:srgbClr val="DDF4FF"/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Text 246"/>
          <p:cNvSpPr/>
          <p:nvPr/>
        </p:nvSpPr>
        <p:spPr>
          <a:xfrm>
            <a:off x="2697480" y="4224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· Dio</a:t>
            </a:r>
            <a:endParaRPr lang="en-US" sz="900" dirty="0"/>
          </a:p>
        </p:txBody>
      </p:sp>
      <p:sp>
        <p:nvSpPr>
          <p:cNvPr id="250" name="Shape 247"/>
          <p:cNvSpPr/>
          <p:nvPr/>
        </p:nvSpPr>
        <p:spPr>
          <a:xfrm>
            <a:off x="4572000" y="4206240"/>
            <a:ext cx="1188720" cy="228600"/>
          </a:xfrm>
          <a:prstGeom prst="roundRect">
            <a:avLst>
              <a:gd name="adj" fmla="val 20000"/>
            </a:avLst>
          </a:prstGeom>
          <a:solidFill>
            <a:srgbClr val="DAFBE1"/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Text 248"/>
          <p:cNvSpPr/>
          <p:nvPr/>
        </p:nvSpPr>
        <p:spPr>
          <a:xfrm>
            <a:off x="4617720" y="4224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Interceptor?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DDF4FF"/>
          </a:solidFill>
          <a:ln w="127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960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BEFFF"/>
          </a:solidFill>
          <a:ln w="1270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920240" y="960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960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F2F5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40480" y="960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Network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API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15000" y="960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BEFFF"/>
          </a:solidFill>
          <a:ln w="1270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960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89520" y="960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DDF4FF"/>
          </a:solidFill>
          <a:ln w="127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589520" y="960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783080" y="1298448"/>
            <a:ext cx="164592" cy="0"/>
          </a:xfrm>
          <a:prstGeom prst="line">
            <a:avLst/>
          </a:prstGeom>
          <a:noFill/>
          <a:ln w="1270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691640" y="1463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→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0" y="1298448"/>
            <a:ext cx="164592" cy="0"/>
          </a:xfrm>
          <a:prstGeom prst="line">
            <a:avLst/>
          </a:prstGeom>
          <a:noFill/>
          <a:ln w="1270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1463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→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349240" y="1298448"/>
            <a:ext cx="164592" cy="0"/>
          </a:xfrm>
          <a:prstGeom prst="line">
            <a:avLst/>
          </a:prstGeom>
          <a:noFill/>
          <a:ln w="1270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57800" y="1463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response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223760" y="1298448"/>
            <a:ext cx="164592" cy="0"/>
          </a:xfrm>
          <a:prstGeom prst="line">
            <a:avLst/>
          </a:prstGeom>
          <a:noFill/>
          <a:ln w="1270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32320" y="1463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deliver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192024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2011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interceptor is a middleware function that sits between your app and the network layer.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2331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automatically on every request and/or response — without changing any business logic.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0175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EFF2F5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1440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2920" y="35204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measure, track every request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46120" y="30175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EFF2F5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337560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79476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383280" y="35204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headers, encrypt body, transform data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26480" y="30175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EFF2F5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17920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67512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263640" y="35204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cache, block, reject early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Use Interceptors?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931920" cy="3931920"/>
          </a:xfrm>
          <a:prstGeom prst="roundRect">
            <a:avLst>
              <a:gd name="adj" fmla="val 2326"/>
            </a:avLst>
          </a:prstGeom>
          <a:solidFill>
            <a:srgbClr val="FFEBE9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411480"/>
          </a:xfrm>
          <a:prstGeom prst="roundRect">
            <a:avLst>
              <a:gd name="adj" fmla="val 11111"/>
            </a:avLst>
          </a:prstGeom>
          <a:solidFill>
            <a:srgbClr val="CF222E">
              <a:alpha val="70000"/>
            </a:srgbClr>
          </a:solidFill>
          <a:ln w="635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Interceptors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Add auth header in every API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9933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Copy-paste error handling everywhere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523744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 each request manually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05409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Check network in every screen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58444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Repeat token refresh logic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914400"/>
            <a:ext cx="4206240" cy="3931920"/>
          </a:xfrm>
          <a:prstGeom prst="roundRect">
            <a:avLst>
              <a:gd name="adj" fmla="val 2326"/>
            </a:avLst>
          </a:prstGeom>
          <a:solidFill>
            <a:srgbClr val="DAFBE1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914400"/>
            <a:ext cx="4206240" cy="411480"/>
          </a:xfrm>
          <a:prstGeom prst="roundRect">
            <a:avLst>
              <a:gd name="adj" fmla="val 11111"/>
            </a:avLst>
          </a:prstGeom>
          <a:solidFill>
            <a:srgbClr val="1A7F37">
              <a:alpha val="70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960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Interceptors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463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interceptor adds auth to all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9933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Centralized, typed error handling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5237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Automatic structured logging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305409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Network check fires before any request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5844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Token refresh handled once, silently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Interceptor Domains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cross-cutting concern becomes a single, reusable class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0969DA">
              <a:alpha val="25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if offline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5448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5448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57606A">
              <a:alpha val="25000"/>
            </a:srgbClr>
          </a:solidFill>
          <a:ln w="635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55448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1A7F37">
              <a:alpha val="25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3464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83464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+ TTL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8250DF">
              <a:alpha val="25000"/>
            </a:srgbClr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11480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+ refresh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39496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39496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CF222E">
              <a:alpha val="25000"/>
            </a:srgbClr>
          </a:solidFill>
          <a:ln w="635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9496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39496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exceptions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7512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67512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9A6700">
              <a:alpha val="25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67512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AES-256-CBC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955280" y="914400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955280" y="914400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0969DA">
              <a:alpha val="25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955280" y="1280160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7955280" y="20299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55280" y="2340864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on slow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1A7F37">
              <a:alpha val="25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7432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27432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7432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guards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55448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55448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9A6700">
              <a:alpha val="25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55448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155448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Delete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55448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→ PATCH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83464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283464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1A7F37">
              <a:alpha val="25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3464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283464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83464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check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1480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11480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0969DA">
              <a:alpha val="25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11480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3000" dirty="0"/>
          </a:p>
        </p:txBody>
      </p:sp>
      <p:sp>
        <p:nvSpPr>
          <p:cNvPr id="57" name="Text 55"/>
          <p:cNvSpPr/>
          <p:nvPr/>
        </p:nvSpPr>
        <p:spPr>
          <a:xfrm>
            <a:off x="411480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11480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bridge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39496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8250DF">
              <a:alpha val="25000"/>
            </a:srgbClr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39496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</a:t>
            </a:r>
            <a:endParaRPr lang="en-US" sz="3000" dirty="0"/>
          </a:p>
        </p:txBody>
      </p:sp>
      <p:sp>
        <p:nvSpPr>
          <p:cNvPr id="62" name="Text 60"/>
          <p:cNvSpPr/>
          <p:nvPr/>
        </p:nvSpPr>
        <p:spPr>
          <a:xfrm>
            <a:off x="539496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Auth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39496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gate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67512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67512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CF222E">
              <a:alpha val="25000"/>
            </a:srgbClr>
          </a:solidFill>
          <a:ln w="635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67512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📵</a:t>
            </a:r>
            <a:endParaRPr lang="en-US" sz="3000" dirty="0"/>
          </a:p>
        </p:txBody>
      </p:sp>
      <p:sp>
        <p:nvSpPr>
          <p:cNvPr id="67" name="Text 65"/>
          <p:cNvSpPr/>
          <p:nvPr/>
        </p:nvSpPr>
        <p:spPr>
          <a:xfrm>
            <a:off x="667512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67512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FLAG_SECURE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55280" y="2770632"/>
            <a:ext cx="1225296" cy="1783080"/>
          </a:xfrm>
          <a:prstGeom prst="roundRect">
            <a:avLst>
              <a:gd name="adj" fmla="val 7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955280" y="2770632"/>
            <a:ext cx="1225296" cy="292608"/>
          </a:xfrm>
          <a:prstGeom prst="roundRect">
            <a:avLst>
              <a:gd name="adj" fmla="val 25000"/>
            </a:avLst>
          </a:prstGeom>
          <a:solidFill>
            <a:srgbClr val="9A6700">
              <a:alpha val="25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7955280" y="3136392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000" dirty="0"/>
          </a:p>
        </p:txBody>
      </p:sp>
      <p:sp>
        <p:nvSpPr>
          <p:cNvPr id="72" name="Text 70"/>
          <p:cNvSpPr/>
          <p:nvPr/>
        </p:nvSpPr>
        <p:spPr>
          <a:xfrm>
            <a:off x="7955280" y="388620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Check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7955280" y="4197096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jailbreak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Examples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68680"/>
            <a:ext cx="2834640" cy="4069080"/>
          </a:xfrm>
          <a:prstGeom prst="roundRect">
            <a:avLst>
              <a:gd name="adj" fmla="val 3226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FBEFFF"/>
          </a:solidFill>
          <a:ln w="9525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8869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Auth + Auto-Refresh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44475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onRequest → attach Bearer token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4048" y="18470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onError (401) → call /auth/refresh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24942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 original request silently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265176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fail → logout + redirect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3456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parallel 401s → single refresh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4048" y="4663440"/>
            <a:ext cx="2615184" cy="201168"/>
          </a:xfrm>
          <a:prstGeom prst="roundRect">
            <a:avLst>
              <a:gd name="adj" fmla="val 22727"/>
            </a:avLst>
          </a:prstGeom>
          <a:solidFill>
            <a:srgbClr val="FBEFFF"/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" y="466344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250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AuthInterceptor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868680"/>
            <a:ext cx="2834640" cy="4069080"/>
          </a:xfrm>
          <a:prstGeom prst="roundRect">
            <a:avLst>
              <a:gd name="adj" fmla="val 3226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46120" y="86868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DAFBE1"/>
          </a:solidFill>
          <a:ln w="9525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37560" y="8869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Cache Interceptor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55848" y="144475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onRequest → check Hive for key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55848" y="18470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→ resolve() without network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55848" y="224942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 → let request through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55848" y="265176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onResponse → store with TTL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55848" y="3456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Respects Cache-Control: max-age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55848" y="4663440"/>
            <a:ext cx="2615184" cy="201168"/>
          </a:xfrm>
          <a:prstGeom prst="roundRect">
            <a:avLst>
              <a:gd name="adj" fmla="val 22727"/>
            </a:avLst>
          </a:prstGeom>
          <a:solidFill>
            <a:srgbClr val="DAFBE1"/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55848" y="466344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CacheInterceptor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868680"/>
            <a:ext cx="2834640" cy="4069080"/>
          </a:xfrm>
          <a:prstGeom prst="roundRect">
            <a:avLst>
              <a:gd name="adj" fmla="val 3226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217920" y="86868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FFF8C5"/>
          </a:solidFill>
          <a:ln w="9525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09360" y="8869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 Soft Delete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27648" y="144475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detected in onRequest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27648" y="184708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Transform to PATCH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27648" y="224942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Body: { deleted_at: now }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27648" y="265176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onResponse → filter deleted items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27648" y="34564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code never changes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27648" y="4663440"/>
            <a:ext cx="2615184" cy="201168"/>
          </a:xfrm>
          <a:prstGeom prst="roundRect">
            <a:avLst>
              <a:gd name="adj" fmla="val 22727"/>
            </a:avLst>
          </a:prstGeom>
          <a:solidFill>
            <a:srgbClr val="FFF8C5"/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27648" y="466344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6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SoftDeleteInterceptor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Chain &amp; Order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runs request interceptors top → bottom  ·  response/error interceptors bottom → top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3977640" cy="3886200"/>
          </a:xfrm>
          <a:prstGeom prst="roundRect">
            <a:avLst>
              <a:gd name="adj" fmla="val 235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1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 →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969DA">
              <a:alpha val="70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1481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NetworkInterceptor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80360" y="14996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if offline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9A6700">
              <a:alpha val="70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" y="19568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RootDetectionInterceptor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80360" y="19751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device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4140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8250DF">
              <a:alpha val="70000"/>
            </a:srgbClr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" y="24323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BioAuthInterceptor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0360" y="24505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endpoints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8895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A7F37">
              <a:alpha val="70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889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" y="2907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ValidatorInterceptor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88036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check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6499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A7F37">
              <a:alpha val="70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64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4672" y="3383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CacheInterceptor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880360" y="340156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from cache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840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8250DF">
              <a:alpha val="70000"/>
            </a:srgbClr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840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4672" y="38587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AuthInterceptor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80360" y="38770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token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31596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9A6700">
              <a:alpha val="70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4672" y="43342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EncryptInterceptor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880360" y="43525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body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1024128"/>
            <a:ext cx="4069080" cy="3886200"/>
          </a:xfrm>
          <a:prstGeom prst="roundRect">
            <a:avLst>
              <a:gd name="adj" fmla="val 235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1078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1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RESPONSE / ERROR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92040" y="1463040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57606A">
              <a:alpha val="70000"/>
            </a:srgbClr>
          </a:solidFill>
          <a:ln w="6350">
            <a:solidFill>
              <a:srgbClr val="576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92040" y="146304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57800" y="1481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AppLogInterceptor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15200" y="14996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last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92040" y="1938528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9A6700">
              <a:alpha val="70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92040" y="193852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257800" y="19568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UpdateCheckInterceptor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15200" y="197510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headers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92040" y="2414016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CF222E">
              <a:alpha val="70000"/>
            </a:srgbClr>
          </a:solidFill>
          <a:ln w="635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892040" y="24140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257800" y="24323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ErrorInterceptor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315200" y="2450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exceptions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92040" y="2889504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0969DA">
              <a:alpha val="70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92040" y="288950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257800" y="2907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PerformanceInterceptor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315200" y="29260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duration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92040" y="3364992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0969DA">
              <a:alpha val="70000"/>
            </a:srgbClr>
          </a:solidFill>
          <a:ln w="635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892040" y="33649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57800" y="3383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StateInterceptor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15200" y="34015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events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92040" y="3840480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9A6700">
              <a:alpha val="70000"/>
            </a:srgbClr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892040" y="38404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57800" y="38587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SoftDeleteInterceptor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315200" y="3877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deleted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92040" y="4315968"/>
            <a:ext cx="274320" cy="256032"/>
          </a:xfrm>
          <a:prstGeom prst="roundRect">
            <a:avLst>
              <a:gd name="adj" fmla="val 14286"/>
            </a:avLst>
          </a:prstGeom>
          <a:solidFill>
            <a:srgbClr val="1A7F37">
              <a:alpha val="70000"/>
            </a:srgbClr>
          </a:solidFill>
          <a:ln w="63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892040" y="43159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257800" y="43342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NavigationInterceptor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315200" y="43525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header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Interceptors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9768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Encrypt (AES-256-CBC)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9768" y="1371600"/>
            <a:ext cx="3950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endpoints encrypt the JSON body before sending. The AES key is stored in FlutterSecureStorage — never hardcoded. Random IV per request prevents ciphertext patterns.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2103120"/>
            <a:ext cx="3950208" cy="585216"/>
          </a:xfrm>
          <a:prstGeom prst="roundRect">
            <a:avLst>
              <a:gd name="adj" fmla="val 9375"/>
            </a:avLst>
          </a:prstGeom>
          <a:solidFill>
            <a:srgbClr val="F6F8FA"/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2176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A6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options.data = { payload: encrypted.base64, iv: iv.base64 }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64608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  Biometric Auth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64608" y="1371600"/>
            <a:ext cx="3950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endpoints (payments, profile delete) prompt for fingerprint/FaceID before the request fires. App also locks on background and requires bio on resume.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64608" y="2103120"/>
            <a:ext cx="3950208" cy="585216"/>
          </a:xfrm>
          <a:prstGeom prst="roundRect">
            <a:avLst>
              <a:gd name="adj" fmla="val 9375"/>
            </a:avLst>
          </a:prstGeom>
          <a:solidFill>
            <a:srgbClr val="F6F8FA"/>
          </a:solidFill>
          <a:ln w="6350">
            <a:solidFill>
              <a:srgbClr val="8250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56048" y="2176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250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_auth.authenticate(localizedReason: 'Confirm to proceed')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9718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📵  Screenshot Prevention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" y="3429000"/>
            <a:ext cx="3950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FLAG_SECURE on Android blocks screenshots and screen recording. iOS blurs content in the app switcher. Enabled globally from main() or per-screen.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4160520"/>
            <a:ext cx="3950208" cy="585216"/>
          </a:xfrm>
          <a:prstGeom prst="roundRect">
            <a:avLst>
              <a:gd name="adj" fmla="val 9375"/>
            </a:avLst>
          </a:prstGeom>
          <a:solidFill>
            <a:srgbClr val="F6F8FA"/>
          </a:solidFill>
          <a:ln w="635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21208" y="42336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ScreenProtector.preventScreenshotOn()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ScreenProtector.protectDataLeakageWithBlur()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64608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Root / Jailbreak Detection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429000"/>
            <a:ext cx="3950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at startup using root_check package. Warns the user if device is compromised. Adds X-Device-Rooted header so the backend can audit or block requests.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64608" y="4160520"/>
            <a:ext cx="3950208" cy="585216"/>
          </a:xfrm>
          <a:prstGeom prst="roundRect">
            <a:avLst>
              <a:gd name="adj" fmla="val 9375"/>
            </a:avLst>
          </a:prstGeom>
          <a:solidFill>
            <a:srgbClr val="F6F8FA"/>
          </a:solidFill>
          <a:ln w="6350">
            <a:solidFill>
              <a:srgbClr val="9A6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56048" y="42336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A6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_isRooted = (await RootCheck.isRooted) ?? false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Avoid Interceptors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4206240" cy="1965960"/>
          </a:xfrm>
          <a:prstGeom prst="roundRect">
            <a:avLst>
              <a:gd name="adj" fmla="val 465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9768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Request-specific logic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9768" y="12984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logic applies to only ONE endpoint, put it in the repository/service — not a global interceptor. Interceptors should be universal concerns.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892808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FFEBE9"/>
          </a:solidFill>
          <a:ln w="508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4632" y="19110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 Interceptor: if path == '/checkout' → add promo code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9768" y="2295144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DAFBE1"/>
          </a:solidFill>
          <a:ln w="508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" y="2313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CheckoutRepository: add promo code in request payload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868680"/>
            <a:ext cx="4206240" cy="1965960"/>
          </a:xfrm>
          <a:prstGeom prst="roundRect">
            <a:avLst>
              <a:gd name="adj" fmla="val 465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64608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UI / user feedback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2984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run on background threads. Showing dialogs, snackbars, or routing from inside an interceptor causes context and timing issues.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64608" y="1892808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FFEBE9"/>
          </a:solidFill>
          <a:ln w="508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19472" y="19110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 Interceptor onError → showDialog(context, ...)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64608" y="2295144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DAFBE1"/>
          </a:solidFill>
          <a:ln w="508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19472" y="2313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StateInterceptor → emit NetworkError → BLoC → UI reacts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2971800"/>
            <a:ext cx="4206240" cy="1965960"/>
          </a:xfrm>
          <a:prstGeom prst="roundRect">
            <a:avLst>
              <a:gd name="adj" fmla="val 465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Heavy business rules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" y="34015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domain logic (pricing, eligibility, validation rules) belongs in use-cases/services — not interceptors. Interceptors should be thin and fast.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" y="3995928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FFEBE9"/>
          </a:solidFill>
          <a:ln w="508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" y="40142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 Interceptor: calculate shipping based on user tier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29768" y="4398264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DAFBE1"/>
          </a:solidFill>
          <a:ln w="508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" y="4416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OrderUseCase: calculate shipping, then call API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54880" y="2971800"/>
            <a:ext cx="4206240" cy="1965960"/>
          </a:xfrm>
          <a:prstGeom prst="roundRect">
            <a:avLst>
              <a:gd name="adj" fmla="val 465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64608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Hard to test logic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64608" y="34015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inside interceptors is harder to unit-test because it wraps every request. Keep interceptors simple so they're easy to mock or skip in tests.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3995928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FFEBE9"/>
          </a:solidFill>
          <a:ln w="5080">
            <a:solidFill>
              <a:srgbClr val="CF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19472" y="40142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 Interceptor: complex business logic with multiple branches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4608" y="4398264"/>
            <a:ext cx="3950208" cy="347472"/>
          </a:xfrm>
          <a:prstGeom prst="roundRect">
            <a:avLst>
              <a:gd name="adj" fmla="val 13158"/>
            </a:avLst>
          </a:prstGeom>
          <a:solidFill>
            <a:srgbClr val="DAFBE1"/>
          </a:solidFill>
          <a:ln w="508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19472" y="4416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Use extra['skipInterceptor'] = true for targeted tests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5097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5097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5097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5097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5097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5097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5097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5097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5097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5097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5097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5097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42646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42646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42646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42646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42646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42646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42646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42646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42646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42646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42646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2646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90195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90195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90195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90195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90195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90195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90195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90195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90195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90195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90195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90195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237744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237744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37744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37744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37744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37744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37744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37744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37744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37744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37744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37744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85292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85292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85292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85292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85292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85292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85292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285292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285292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285292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285292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285292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32841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332841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332841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332841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32841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32841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332841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332841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332841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332841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332841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32841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80390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380390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380390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380390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380390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380390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80390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80390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380390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380390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380390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380390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427939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427939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427939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427939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427939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427939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27939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27939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27939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27939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27939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27939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75488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475488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475488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475488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75488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475488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475488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475488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475488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475488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475488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475488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523036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523036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523036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523036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523036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523036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523036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523036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523036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523036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23036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523036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570585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570585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570585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570585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70585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570585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570585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70585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70585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70585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570585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570585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618134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618134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18134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18134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618134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618134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18134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618134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618134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618134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618134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18134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665683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665683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665683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65683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665683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665683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665683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665683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665683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665683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665683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665683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7132320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7132320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7132320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7132320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7132320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132320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7132320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7132320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7132320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7132320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7132320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7132320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7607808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7607808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7607808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7607808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07808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7607808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7607808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7607808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7607808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7607808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607808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7607808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083296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8083296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8083296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8083296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8083296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8083296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8083296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8083296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8083296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8083296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8083296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8083296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8558784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8558784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8558784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8558784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8558784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8558784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8558784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8558784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8558784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8558784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8558784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8558784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9034272" y="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9034272" y="457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9034272" y="914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9034272" y="1371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9034272" y="1828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9034272" y="2286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9034272" y="2743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9034272" y="32004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9034272" y="36576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9034272" y="41148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9034272" y="45720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9034272" y="5029200"/>
            <a:ext cx="36576" cy="36576"/>
          </a:xfrm>
          <a:prstGeom prst="line">
            <a:avLst/>
          </a:prstGeom>
          <a:solidFill>
            <a:srgbClr val="D0D7DE"/>
          </a:solidFill>
          <a:ln w="1270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Text 24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2800" dirty="0"/>
          </a:p>
        </p:txBody>
      </p:sp>
      <p:sp>
        <p:nvSpPr>
          <p:cNvPr id="243" name="Shape 241"/>
          <p:cNvSpPr/>
          <p:nvPr/>
        </p:nvSpPr>
        <p:spPr>
          <a:xfrm>
            <a:off x="365760" y="1005840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4" name="Text 242"/>
          <p:cNvSpPr/>
          <p:nvPr/>
        </p:nvSpPr>
        <p:spPr>
          <a:xfrm>
            <a:off x="502920" y="1060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2200" dirty="0"/>
          </a:p>
        </p:txBody>
      </p:sp>
      <p:sp>
        <p:nvSpPr>
          <p:cNvPr id="245" name="Text 243"/>
          <p:cNvSpPr/>
          <p:nvPr/>
        </p:nvSpPr>
        <p:spPr>
          <a:xfrm>
            <a:off x="1051560" y="112471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are middleware that sit between app and network</a:t>
            </a:r>
            <a:endParaRPr lang="en-US" sz="1400" dirty="0"/>
          </a:p>
        </p:txBody>
      </p:sp>
      <p:sp>
        <p:nvSpPr>
          <p:cNvPr id="246" name="Shape 244"/>
          <p:cNvSpPr/>
          <p:nvPr/>
        </p:nvSpPr>
        <p:spPr>
          <a:xfrm>
            <a:off x="365760" y="1709928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7" name="Text 245"/>
          <p:cNvSpPr/>
          <p:nvPr/>
        </p:nvSpPr>
        <p:spPr>
          <a:xfrm>
            <a:off x="50292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</a:t>
            </a:r>
            <a:endParaRPr lang="en-US" sz="2200" dirty="0"/>
          </a:p>
        </p:txBody>
      </p:sp>
      <p:sp>
        <p:nvSpPr>
          <p:cNvPr id="248" name="Text 246"/>
          <p:cNvSpPr/>
          <p:nvPr/>
        </p:nvSpPr>
        <p:spPr>
          <a:xfrm>
            <a:off x="105156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 — apply to every request automatically</a:t>
            </a:r>
            <a:endParaRPr lang="en-US" sz="1400" dirty="0"/>
          </a:p>
        </p:txBody>
      </p:sp>
      <p:sp>
        <p:nvSpPr>
          <p:cNvPr id="249" name="Shape 247"/>
          <p:cNvSpPr/>
          <p:nvPr/>
        </p:nvSpPr>
        <p:spPr>
          <a:xfrm>
            <a:off x="365760" y="2414016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0" name="Text 248"/>
          <p:cNvSpPr/>
          <p:nvPr/>
        </p:nvSpPr>
        <p:spPr>
          <a:xfrm>
            <a:off x="502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200" dirty="0"/>
          </a:p>
        </p:txBody>
      </p:sp>
      <p:sp>
        <p:nvSpPr>
          <p:cNvPr id="251" name="Text 249"/>
          <p:cNvSpPr/>
          <p:nvPr/>
        </p:nvSpPr>
        <p:spPr>
          <a:xfrm>
            <a:off x="1051560" y="253288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Network first · Log last</a:t>
            </a:r>
            <a:endParaRPr lang="en-US" sz="1400" dirty="0"/>
          </a:p>
        </p:txBody>
      </p:sp>
      <p:sp>
        <p:nvSpPr>
          <p:cNvPr id="252" name="Shape 250"/>
          <p:cNvSpPr/>
          <p:nvPr/>
        </p:nvSpPr>
        <p:spPr>
          <a:xfrm>
            <a:off x="365760" y="3118104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3" name="Text 251"/>
          <p:cNvSpPr/>
          <p:nvPr/>
        </p:nvSpPr>
        <p:spPr>
          <a:xfrm>
            <a:off x="5029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254" name="Text 252"/>
          <p:cNvSpPr/>
          <p:nvPr/>
        </p:nvSpPr>
        <p:spPr>
          <a:xfrm>
            <a:off x="1051560" y="3236976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for: auth, logging, cache, error, security, performance</a:t>
            </a:r>
            <a:endParaRPr lang="en-US" sz="1400" dirty="0"/>
          </a:p>
        </p:txBody>
      </p:sp>
      <p:sp>
        <p:nvSpPr>
          <p:cNvPr id="255" name="Shape 253"/>
          <p:cNvSpPr/>
          <p:nvPr/>
        </p:nvSpPr>
        <p:spPr>
          <a:xfrm>
            <a:off x="365760" y="3822192"/>
            <a:ext cx="8412480" cy="566928"/>
          </a:xfrm>
          <a:prstGeom prst="roundRect">
            <a:avLst>
              <a:gd name="adj" fmla="val 161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  <a:effectLst>
            <a:outerShdw blurRad="101600" dist="25400" dir="2700000" algn="bl" rotWithShape="0">
              <a:srgbClr val="C8C8C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6" name="Text 254"/>
          <p:cNvSpPr/>
          <p:nvPr/>
        </p:nvSpPr>
        <p:spPr>
          <a:xfrm>
            <a:off x="50292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2200" dirty="0"/>
          </a:p>
        </p:txBody>
      </p:sp>
      <p:sp>
        <p:nvSpPr>
          <p:cNvPr id="257" name="Text 255"/>
          <p:cNvSpPr/>
          <p:nvPr/>
        </p:nvSpPr>
        <p:spPr>
          <a:xfrm>
            <a:off x="1051560" y="394106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for: single-endpoint logic, UI actions, heavy business rules</a:t>
            </a:r>
            <a:endParaRPr lang="en-US" sz="1400" dirty="0"/>
          </a:p>
        </p:txBody>
      </p:sp>
      <p:sp>
        <p:nvSpPr>
          <p:cNvPr id="258" name="Shape 256"/>
          <p:cNvSpPr/>
          <p:nvPr/>
        </p:nvSpPr>
        <p:spPr>
          <a:xfrm>
            <a:off x="3200400" y="4709160"/>
            <a:ext cx="2743200" cy="0"/>
          </a:xfrm>
          <a:prstGeom prst="line">
            <a:avLst/>
          </a:prstGeom>
          <a:noFill/>
          <a:ln w="9525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Text 257"/>
          <p:cNvSpPr/>
          <p:nvPr/>
        </p:nvSpPr>
        <p:spPr>
          <a:xfrm>
            <a:off x="914400" y="47731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سعيد بقدونس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1136</Words>
  <Application>Microsoft Office PowerPoint</Application>
  <PresentationFormat>عرض على الشاشة (16:9)</PresentationFormat>
  <Paragraphs>215</Paragraphs>
  <Slides>9</Slides>
  <Notes>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Interceptors in Frontend</dc:title>
  <dc:subject>PptxGenJS Presentation</dc:subject>
  <dc:creator>سعيد بقدونس</dc:creator>
  <cp:lastModifiedBy>SAEED BAKDONESS</cp:lastModifiedBy>
  <cp:revision>3</cp:revision>
  <dcterms:created xsi:type="dcterms:W3CDTF">2026-06-22T04:23:07Z</dcterms:created>
  <dcterms:modified xsi:type="dcterms:W3CDTF">2026-06-22T04:43:14Z</dcterms:modified>
</cp:coreProperties>
</file>